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4" r:id="rId3"/>
    <p:sldId id="257" r:id="rId4"/>
    <p:sldId id="262" r:id="rId5"/>
    <p:sldId id="259" r:id="rId6"/>
    <p:sldId id="261" r:id="rId7"/>
    <p:sldId id="263" r:id="rId8"/>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05"/>
    <p:restoredTop sz="94684"/>
  </p:normalViewPr>
  <p:slideViewPr>
    <p:cSldViewPr snapToGrid="0" snapToObjects="1">
      <p:cViewPr varScale="1">
        <p:scale>
          <a:sx n="98" d="100"/>
          <a:sy n="98" d="100"/>
        </p:scale>
        <p:origin x="496"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D45B8F-87F0-7E4F-8FD0-F0FDB089223F}" type="datetimeFigureOut">
              <a:rPr lang="fr-FR" smtClean="0"/>
              <a:t>25/01/2026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B828BD-197F-4847-9554-BB044C9E3C7E}" type="slidenum">
              <a:rPr lang="fr-FR" smtClean="0"/>
              <a:t>‹N°›</a:t>
            </a:fld>
            <a:endParaRPr lang="fr-FR"/>
          </a:p>
        </p:txBody>
      </p:sp>
    </p:spTree>
    <p:extLst>
      <p:ext uri="{BB962C8B-B14F-4D97-AF65-F5344CB8AC3E}">
        <p14:creationId xmlns:p14="http://schemas.microsoft.com/office/powerpoint/2010/main" val="364718485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E9B828BD-197F-4847-9554-BB044C9E3C7E}" type="slidenum">
              <a:rPr lang="fr-FR" smtClean="0"/>
              <a:t>7</a:t>
            </a:fld>
            <a:endParaRPr lang="fr-FR"/>
          </a:p>
        </p:txBody>
      </p:sp>
    </p:spTree>
    <p:extLst>
      <p:ext uri="{BB962C8B-B14F-4D97-AF65-F5344CB8AC3E}">
        <p14:creationId xmlns:p14="http://schemas.microsoft.com/office/powerpoint/2010/main" val="1163616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4648021C-4E37-A74A-9BB2-81CB95D0F5BE}" type="datetimeFigureOut">
              <a:rPr lang="fr-FR" smtClean="0"/>
              <a:t>25/01/2026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3070423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a:xfrm>
            <a:off x="116192" y="1600200"/>
            <a:ext cx="8229600" cy="4525963"/>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10"/>
          </p:nvPr>
        </p:nvSpPr>
        <p:spPr/>
        <p:txBody>
          <a:bodyPr/>
          <a:lstStyle/>
          <a:p>
            <a:fld id="{4648021C-4E37-A74A-9BB2-81CB95D0F5BE}" type="datetimeFigureOut">
              <a:rPr lang="fr-FR" smtClean="0"/>
              <a:t>25/01/2026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60F9896-2B76-F346-A910-4CA9558F9AB1}" type="slidenum">
              <a:rPr lang="fr-FR" smtClean="0"/>
              <a:t>‹N°›</a:t>
            </a:fld>
            <a:endParaRPr lang="fr-FR"/>
          </a:p>
        </p:txBody>
      </p:sp>
      <p:pic>
        <p:nvPicPr>
          <p:cNvPr id="8" name="Image 7"/>
          <p:cNvPicPr>
            <a:picLocks noChangeAspect="1"/>
          </p:cNvPicPr>
          <p:nvPr userDrawn="1"/>
        </p:nvPicPr>
        <p:blipFill>
          <a:blip r:embed="rId2"/>
          <a:stretch>
            <a:fillRect/>
          </a:stretch>
        </p:blipFill>
        <p:spPr>
          <a:xfrm>
            <a:off x="4291992" y="2128243"/>
            <a:ext cx="3269980" cy="4593699"/>
          </a:xfrm>
          <a:prstGeom prst="rect">
            <a:avLst/>
          </a:prstGeom>
        </p:spPr>
      </p:pic>
    </p:spTree>
    <p:extLst>
      <p:ext uri="{BB962C8B-B14F-4D97-AF65-F5344CB8AC3E}">
        <p14:creationId xmlns:p14="http://schemas.microsoft.com/office/powerpoint/2010/main" val="3340946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4648021C-4E37-A74A-9BB2-81CB95D0F5BE}" type="datetimeFigureOut">
              <a:rPr lang="fr-FR" smtClean="0"/>
              <a:t>25/01/2026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1247283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4648021C-4E37-A74A-9BB2-81CB95D0F5BE}" type="datetimeFigureOut">
              <a:rPr lang="fr-FR" smtClean="0"/>
              <a:t>25/01/2026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3564106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4648021C-4E37-A74A-9BB2-81CB95D0F5BE}" type="datetimeFigureOut">
              <a:rPr lang="fr-FR" smtClean="0"/>
              <a:t>25/01/2026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100585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4648021C-4E37-A74A-9BB2-81CB95D0F5BE}" type="datetimeFigureOut">
              <a:rPr lang="fr-FR" smtClean="0"/>
              <a:t>25/01/2026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3246852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648021C-4E37-A74A-9BB2-81CB95D0F5BE}" type="datetimeFigureOut">
              <a:rPr lang="fr-FR" smtClean="0"/>
              <a:t>25/01/2026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1135201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648021C-4E37-A74A-9BB2-81CB95D0F5BE}" type="datetimeFigureOut">
              <a:rPr lang="fr-FR" smtClean="0"/>
              <a:t>25/01/2026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4269292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648021C-4E37-A74A-9BB2-81CB95D0F5BE}" type="datetimeFigureOut">
              <a:rPr lang="fr-FR" smtClean="0"/>
              <a:t>25/01/2026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206451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648021C-4E37-A74A-9BB2-81CB95D0F5BE}" type="datetimeFigureOut">
              <a:rPr lang="fr-FR" smtClean="0"/>
              <a:t>25/01/2026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861067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648021C-4E37-A74A-9BB2-81CB95D0F5BE}" type="datetimeFigureOut">
              <a:rPr lang="fr-FR" smtClean="0"/>
              <a:t>25/01/2026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60F9896-2B76-F346-A910-4CA9558F9AB1}" type="slidenum">
              <a:rPr lang="fr-FR" smtClean="0"/>
              <a:t>‹N°›</a:t>
            </a:fld>
            <a:endParaRPr lang="fr-FR"/>
          </a:p>
        </p:txBody>
      </p:sp>
    </p:spTree>
    <p:extLst>
      <p:ext uri="{BB962C8B-B14F-4D97-AF65-F5344CB8AC3E}">
        <p14:creationId xmlns:p14="http://schemas.microsoft.com/office/powerpoint/2010/main" val="247201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48021C-4E37-A74A-9BB2-81CB95D0F5BE}" type="datetimeFigureOut">
              <a:rPr lang="fr-FR" smtClean="0"/>
              <a:t>25/01/2026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0F9896-2B76-F346-A910-4CA9558F9AB1}" type="slidenum">
              <a:rPr lang="fr-FR" smtClean="0"/>
              <a:t>‹N°›</a:t>
            </a:fld>
            <a:endParaRPr lang="fr-FR"/>
          </a:p>
        </p:txBody>
      </p:sp>
    </p:spTree>
    <p:extLst>
      <p:ext uri="{BB962C8B-B14F-4D97-AF65-F5344CB8AC3E}">
        <p14:creationId xmlns:p14="http://schemas.microsoft.com/office/powerpoint/2010/main" val="2745221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pple Chancery"/>
                <a:cs typeface="Apple Chancery"/>
              </a:rPr>
              <a:t>Le Petit Prince</a:t>
            </a:r>
          </a:p>
        </p:txBody>
      </p:sp>
      <p:sp>
        <p:nvSpPr>
          <p:cNvPr id="3" name="Sous-titre 2"/>
          <p:cNvSpPr>
            <a:spLocks noGrp="1"/>
          </p:cNvSpPr>
          <p:nvPr>
            <p:ph type="subTitle" idx="4294967295"/>
          </p:nvPr>
        </p:nvSpPr>
        <p:spPr>
          <a:xfrm>
            <a:off x="784587" y="1693189"/>
            <a:ext cx="4244955" cy="3325976"/>
          </a:xfrm>
        </p:spPr>
        <p:txBody>
          <a:bodyPr>
            <a:normAutofit fontScale="85000" lnSpcReduction="20000"/>
          </a:bodyPr>
          <a:lstStyle/>
          <a:p>
            <a:pPr marL="0" indent="0" algn="ctr">
              <a:spcBef>
                <a:spcPct val="0"/>
              </a:spcBef>
              <a:buNone/>
            </a:pPr>
            <a:r>
              <a:rPr lang="fr-FR" sz="4000" dirty="0">
                <a:solidFill>
                  <a:schemeClr val="tx1"/>
                </a:solidFill>
                <a:latin typeface="Apple Chancery"/>
                <a:ea typeface="+mj-ea"/>
                <a:cs typeface="Apple Chancery"/>
              </a:rPr>
              <a:t>Toutes les grandes personnes ont d’abord </a:t>
            </a:r>
            <a:r>
              <a:rPr lang="fr-FR" sz="4000" dirty="0" err="1">
                <a:solidFill>
                  <a:schemeClr val="tx1"/>
                </a:solidFill>
                <a:latin typeface="Apple Chancery"/>
                <a:ea typeface="+mj-ea"/>
                <a:cs typeface="Apple Chancery"/>
              </a:rPr>
              <a:t>été</a:t>
            </a:r>
            <a:r>
              <a:rPr lang="fr-FR" sz="4000" dirty="0">
                <a:solidFill>
                  <a:schemeClr val="tx1"/>
                </a:solidFill>
                <a:latin typeface="Apple Chancery"/>
                <a:ea typeface="+mj-ea"/>
                <a:cs typeface="Apple Chancery"/>
              </a:rPr>
              <a:t> des enfants. </a:t>
            </a:r>
          </a:p>
          <a:p>
            <a:pPr marL="0" indent="0" algn="ctr">
              <a:spcBef>
                <a:spcPct val="0"/>
              </a:spcBef>
              <a:buNone/>
            </a:pPr>
            <a:endParaRPr lang="fr-FR" sz="4000" dirty="0">
              <a:solidFill>
                <a:schemeClr val="tx1"/>
              </a:solidFill>
              <a:latin typeface="Apple Chancery"/>
              <a:ea typeface="+mj-ea"/>
              <a:cs typeface="Apple Chancery"/>
            </a:endParaRPr>
          </a:p>
          <a:p>
            <a:pPr marL="0" indent="0" algn="ctr">
              <a:spcBef>
                <a:spcPct val="0"/>
              </a:spcBef>
              <a:buNone/>
            </a:pPr>
            <a:r>
              <a:rPr lang="fr-FR" sz="4000" dirty="0">
                <a:solidFill>
                  <a:schemeClr val="tx1"/>
                </a:solidFill>
                <a:latin typeface="Apple Chancery"/>
                <a:ea typeface="+mj-ea"/>
                <a:cs typeface="Apple Chancery"/>
              </a:rPr>
              <a:t> ( Mais peu d’entre elles s’en souviennent.) </a:t>
            </a:r>
          </a:p>
          <a:p>
            <a:pPr>
              <a:spcBef>
                <a:spcPct val="0"/>
              </a:spcBef>
            </a:pPr>
            <a:endParaRPr lang="fr-FR" sz="4000" dirty="0">
              <a:solidFill>
                <a:schemeClr val="tx1"/>
              </a:solidFill>
              <a:latin typeface="Apple Chancery"/>
              <a:ea typeface="+mj-ea"/>
              <a:cs typeface="Apple Chancery"/>
            </a:endParaRPr>
          </a:p>
        </p:txBody>
      </p:sp>
      <p:pic>
        <p:nvPicPr>
          <p:cNvPr id="6" name="Image 5" descr="Une image contenant jouet, figurine, dessin humoristique, Personnage de fiction&#10;&#10;Description générée automatiquement">
            <a:extLst>
              <a:ext uri="{FF2B5EF4-FFF2-40B4-BE49-F238E27FC236}">
                <a16:creationId xmlns:a16="http://schemas.microsoft.com/office/drawing/2014/main" id="{20C6E273-9ACE-50E4-9DD9-171D7284DE01}"/>
              </a:ext>
            </a:extLst>
          </p:cNvPr>
          <p:cNvPicPr>
            <a:picLocks noChangeAspect="1"/>
          </p:cNvPicPr>
          <p:nvPr/>
        </p:nvPicPr>
        <p:blipFill>
          <a:blip r:embed="rId2"/>
          <a:stretch>
            <a:fillRect/>
          </a:stretch>
        </p:blipFill>
        <p:spPr>
          <a:xfrm>
            <a:off x="4382226" y="1187450"/>
            <a:ext cx="4089400" cy="4483100"/>
          </a:xfrm>
          <a:prstGeom prst="rect">
            <a:avLst/>
          </a:prstGeom>
        </p:spPr>
      </p:pic>
    </p:spTree>
    <p:extLst>
      <p:ext uri="{BB962C8B-B14F-4D97-AF65-F5344CB8AC3E}">
        <p14:creationId xmlns:p14="http://schemas.microsoft.com/office/powerpoint/2010/main" val="991335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a:stretch>
            <a:fillRect/>
          </a:stretch>
        </p:blipFill>
        <p:spPr>
          <a:xfrm>
            <a:off x="3259777" y="1989230"/>
            <a:ext cx="5702300" cy="4495800"/>
          </a:xfrm>
          <a:prstGeom prst="rect">
            <a:avLst/>
          </a:prstGeom>
        </p:spPr>
      </p:pic>
      <p:sp>
        <p:nvSpPr>
          <p:cNvPr id="2" name="Titre 1"/>
          <p:cNvSpPr>
            <a:spLocks noGrp="1"/>
          </p:cNvSpPr>
          <p:nvPr>
            <p:ph type="title"/>
          </p:nvPr>
        </p:nvSpPr>
        <p:spPr/>
        <p:txBody>
          <a:bodyPr/>
          <a:lstStyle/>
          <a:p>
            <a:r>
              <a:rPr lang="fr-FR" dirty="0">
                <a:latin typeface="Apple Chancery"/>
                <a:cs typeface="Apple Chancery"/>
              </a:rPr>
              <a:t>En quelques mots</a:t>
            </a:r>
          </a:p>
        </p:txBody>
      </p:sp>
      <p:sp>
        <p:nvSpPr>
          <p:cNvPr id="3" name="ZoneTexte 2"/>
          <p:cNvSpPr txBox="1"/>
          <p:nvPr/>
        </p:nvSpPr>
        <p:spPr>
          <a:xfrm>
            <a:off x="862724" y="1740587"/>
            <a:ext cx="5719302" cy="3724097"/>
          </a:xfrm>
          <a:prstGeom prst="rect">
            <a:avLst/>
          </a:prstGeom>
          <a:noFill/>
        </p:spPr>
        <p:txBody>
          <a:bodyPr wrap="square" rtlCol="0">
            <a:spAutoFit/>
          </a:bodyPr>
          <a:lstStyle/>
          <a:p>
            <a:r>
              <a:rPr lang="fr-FR" sz="4000" dirty="0">
                <a:latin typeface="Apple Chancery"/>
                <a:cs typeface="Apple Chancery"/>
              </a:rPr>
              <a:t>Des valeurs</a:t>
            </a:r>
          </a:p>
          <a:p>
            <a:r>
              <a:rPr lang="fr-FR" sz="4000" dirty="0">
                <a:latin typeface="Apple Chancery"/>
                <a:cs typeface="Apple Chancery"/>
              </a:rPr>
              <a:t>Quelques planètes</a:t>
            </a:r>
          </a:p>
          <a:p>
            <a:r>
              <a:rPr lang="fr-FR" sz="4000" dirty="0">
                <a:latin typeface="Apple Chancery"/>
                <a:cs typeface="Apple Chancery"/>
              </a:rPr>
              <a:t>L’amitié</a:t>
            </a:r>
          </a:p>
          <a:p>
            <a:r>
              <a:rPr lang="fr-FR" sz="4000" dirty="0">
                <a:latin typeface="Apple Chancery"/>
                <a:cs typeface="Apple Chancery"/>
              </a:rPr>
              <a:t>L’amour</a:t>
            </a:r>
          </a:p>
          <a:p>
            <a:r>
              <a:rPr lang="fr-FR" sz="4000" dirty="0">
                <a:latin typeface="Apple Chancery"/>
                <a:cs typeface="Apple Chancery"/>
              </a:rPr>
              <a:t>The end</a:t>
            </a:r>
          </a:p>
          <a:p>
            <a:endParaRPr lang="fr-FR" dirty="0"/>
          </a:p>
          <a:p>
            <a:endParaRPr lang="fr-FR" dirty="0"/>
          </a:p>
        </p:txBody>
      </p:sp>
    </p:spTree>
    <p:extLst>
      <p:ext uri="{BB962C8B-B14F-4D97-AF65-F5344CB8AC3E}">
        <p14:creationId xmlns:p14="http://schemas.microsoft.com/office/powerpoint/2010/main" val="69692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re 11"/>
          <p:cNvSpPr>
            <a:spLocks noGrp="1"/>
          </p:cNvSpPr>
          <p:nvPr>
            <p:ph type="ctrTitle"/>
          </p:nvPr>
        </p:nvSpPr>
        <p:spPr>
          <a:xfrm>
            <a:off x="685800" y="234950"/>
            <a:ext cx="7772400" cy="1470025"/>
          </a:xfrm>
        </p:spPr>
        <p:txBody>
          <a:bodyPr/>
          <a:lstStyle/>
          <a:p>
            <a:r>
              <a:rPr lang="fr-FR" dirty="0">
                <a:latin typeface="Apple Chancery"/>
                <a:cs typeface="Apple Chancery"/>
              </a:rPr>
              <a:t>Les Valeurs</a:t>
            </a:r>
          </a:p>
        </p:txBody>
      </p:sp>
      <p:pic>
        <p:nvPicPr>
          <p:cNvPr id="4" name="Espace réservé du contenu 3"/>
          <p:cNvPicPr>
            <a:picLocks noGrp="1" noChangeAspect="1"/>
          </p:cNvPicPr>
          <p:nvPr>
            <p:ph idx="4294967295"/>
          </p:nvPr>
        </p:nvPicPr>
        <p:blipFill rotWithShape="1">
          <a:blip/>
          <a:srcRect l="396" r="-28"/>
          <a:stretch/>
        </p:blipFill>
        <p:spPr>
          <a:xfrm>
            <a:off x="515001" y="1829862"/>
            <a:ext cx="2029917" cy="638929"/>
          </a:xfrm>
        </p:spPr>
      </p:pic>
      <p:sp>
        <p:nvSpPr>
          <p:cNvPr id="5" name="ZoneTexte 4"/>
          <p:cNvSpPr txBox="1"/>
          <p:nvPr/>
        </p:nvSpPr>
        <p:spPr>
          <a:xfrm>
            <a:off x="6914222" y="2210551"/>
            <a:ext cx="184666" cy="369332"/>
          </a:xfrm>
          <a:prstGeom prst="rect">
            <a:avLst/>
          </a:prstGeom>
          <a:noFill/>
        </p:spPr>
        <p:txBody>
          <a:bodyPr wrap="none" rtlCol="0">
            <a:spAutoFit/>
          </a:bodyPr>
          <a:lstStyle/>
          <a:p>
            <a:endParaRPr lang="fr-FR" dirty="0"/>
          </a:p>
        </p:txBody>
      </p:sp>
      <p:sp>
        <p:nvSpPr>
          <p:cNvPr id="7" name="ZoneTexte 6"/>
          <p:cNvSpPr txBox="1"/>
          <p:nvPr/>
        </p:nvSpPr>
        <p:spPr>
          <a:xfrm>
            <a:off x="2623787" y="3006204"/>
            <a:ext cx="4054652" cy="1477328"/>
          </a:xfrm>
          <a:prstGeom prst="rect">
            <a:avLst/>
          </a:prstGeom>
          <a:noFill/>
        </p:spPr>
        <p:txBody>
          <a:bodyPr wrap="square" rtlCol="0">
            <a:spAutoFit/>
          </a:bodyPr>
          <a:lstStyle/>
          <a:p>
            <a:r>
              <a:rPr lang="fr-FR" dirty="0">
                <a:latin typeface="Apple Chancery"/>
                <a:cs typeface="Apple Chancery"/>
              </a:rPr>
              <a:t>«  L’essentiel est invisible pour les yeux »</a:t>
            </a:r>
          </a:p>
          <a:p>
            <a:endParaRPr lang="fr-FR" dirty="0">
              <a:latin typeface="Apple Chancery"/>
              <a:cs typeface="Apple Chancery"/>
            </a:endParaRPr>
          </a:p>
          <a:p>
            <a:endParaRPr lang="fr-FR" dirty="0"/>
          </a:p>
          <a:p>
            <a:endParaRPr lang="fr-FR" dirty="0"/>
          </a:p>
          <a:p>
            <a:endParaRPr lang="fr-FR" dirty="0"/>
          </a:p>
        </p:txBody>
      </p:sp>
      <p:pic>
        <p:nvPicPr>
          <p:cNvPr id="10" name="Image 9"/>
          <p:cNvPicPr>
            <a:picLocks noChangeAspect="1"/>
          </p:cNvPicPr>
          <p:nvPr/>
        </p:nvPicPr>
        <p:blipFill>
          <a:blip/>
          <a:stretch>
            <a:fillRect/>
          </a:stretch>
        </p:blipFill>
        <p:spPr>
          <a:xfrm>
            <a:off x="612214" y="2659812"/>
            <a:ext cx="2048474" cy="990096"/>
          </a:xfrm>
          <a:prstGeom prst="rect">
            <a:avLst/>
          </a:prstGeom>
        </p:spPr>
      </p:pic>
      <p:pic>
        <p:nvPicPr>
          <p:cNvPr id="14" name="Image 13"/>
          <p:cNvPicPr>
            <a:picLocks noChangeAspect="1"/>
          </p:cNvPicPr>
          <p:nvPr/>
        </p:nvPicPr>
        <p:blipFill>
          <a:blip/>
          <a:stretch>
            <a:fillRect/>
          </a:stretch>
        </p:blipFill>
        <p:spPr>
          <a:xfrm>
            <a:off x="685800" y="3898559"/>
            <a:ext cx="2848860" cy="2156829"/>
          </a:xfrm>
          <a:prstGeom prst="rect">
            <a:avLst/>
          </a:prstGeom>
        </p:spPr>
      </p:pic>
      <p:pic>
        <p:nvPicPr>
          <p:cNvPr id="16" name="Image 15"/>
          <p:cNvPicPr>
            <a:picLocks noChangeAspect="1"/>
          </p:cNvPicPr>
          <p:nvPr/>
        </p:nvPicPr>
        <p:blipFill>
          <a:blip>
            <a:alphaModFix amt="36000"/>
          </a:blip>
          <a:stretch>
            <a:fillRect/>
          </a:stretch>
        </p:blipFill>
        <p:spPr>
          <a:xfrm>
            <a:off x="3844164" y="0"/>
            <a:ext cx="5189838" cy="6858000"/>
          </a:xfrm>
          <a:prstGeom prst="rect">
            <a:avLst/>
          </a:prstGeom>
        </p:spPr>
      </p:pic>
    </p:spTree>
    <p:extLst>
      <p:ext uri="{BB962C8B-B14F-4D97-AF65-F5344CB8AC3E}">
        <p14:creationId xmlns:p14="http://schemas.microsoft.com/office/powerpoint/2010/main" val="2736855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685800" y="1519236"/>
            <a:ext cx="5922690" cy="1833140"/>
          </a:xfrm>
        </p:spPr>
        <p:txBody>
          <a:bodyPr>
            <a:normAutofit fontScale="62500" lnSpcReduction="20000"/>
          </a:bodyPr>
          <a:lstStyle/>
          <a:p>
            <a:pPr>
              <a:lnSpc>
                <a:spcPct val="110000"/>
              </a:lnSpc>
            </a:pPr>
            <a:r>
              <a:rPr lang="fr-FR" sz="4300" baseline="30000" dirty="0">
                <a:solidFill>
                  <a:srgbClr val="000000"/>
                </a:solidFill>
                <a:latin typeface="Apple Chancery"/>
                <a:cs typeface="Apple Chancery"/>
              </a:rPr>
              <a:t>« Il faut exiger de chacun ce que chacun peut donner reprit le roi. L’autorité repose d’abord sur la raison.  »</a:t>
            </a:r>
          </a:p>
          <a:p>
            <a:pPr>
              <a:lnSpc>
                <a:spcPct val="110000"/>
              </a:lnSpc>
            </a:pPr>
            <a:endParaRPr lang="fr-FR" sz="4300" baseline="30000" dirty="0">
              <a:solidFill>
                <a:srgbClr val="000000"/>
              </a:solidFill>
              <a:latin typeface="Apple Chancery"/>
              <a:cs typeface="Apple Chancery"/>
            </a:endParaRPr>
          </a:p>
          <a:p>
            <a:pPr>
              <a:lnSpc>
                <a:spcPct val="110000"/>
              </a:lnSpc>
            </a:pPr>
            <a:r>
              <a:rPr lang="fr-FR" sz="4300" baseline="30000" dirty="0">
                <a:solidFill>
                  <a:srgbClr val="000000"/>
                </a:solidFill>
                <a:latin typeface="Apple Chancery"/>
                <a:cs typeface="Apple Chancery"/>
              </a:rPr>
              <a:t>« Il est bien plus difficile de se juger </a:t>
            </a:r>
            <a:r>
              <a:rPr lang="fr-FR" sz="4300" baseline="30000" dirty="0" err="1">
                <a:solidFill>
                  <a:srgbClr val="000000"/>
                </a:solidFill>
                <a:latin typeface="Apple Chancery"/>
                <a:cs typeface="Apple Chancery"/>
              </a:rPr>
              <a:t>soi-même</a:t>
            </a:r>
            <a:r>
              <a:rPr lang="fr-FR" sz="4300" baseline="30000" dirty="0">
                <a:solidFill>
                  <a:srgbClr val="000000"/>
                </a:solidFill>
                <a:latin typeface="Apple Chancery"/>
                <a:cs typeface="Apple Chancery"/>
              </a:rPr>
              <a:t> que de juger autrui. Si tu </a:t>
            </a:r>
            <a:r>
              <a:rPr lang="fr-FR" sz="4300" baseline="30000" dirty="0" err="1">
                <a:solidFill>
                  <a:srgbClr val="000000"/>
                </a:solidFill>
                <a:latin typeface="Apple Chancery"/>
                <a:cs typeface="Apple Chancery"/>
              </a:rPr>
              <a:t>réussis</a:t>
            </a:r>
            <a:r>
              <a:rPr lang="fr-FR" sz="4300" baseline="30000" dirty="0">
                <a:solidFill>
                  <a:srgbClr val="000000"/>
                </a:solidFill>
                <a:latin typeface="Apple Chancery"/>
                <a:cs typeface="Apple Chancery"/>
              </a:rPr>
              <a:t> à bien te juger, c’est que tu es un </a:t>
            </a:r>
            <a:r>
              <a:rPr lang="fr-FR" sz="4300" baseline="30000" dirty="0" err="1">
                <a:solidFill>
                  <a:srgbClr val="000000"/>
                </a:solidFill>
                <a:latin typeface="Apple Chancery"/>
                <a:cs typeface="Apple Chancery"/>
              </a:rPr>
              <a:t>véritable</a:t>
            </a:r>
            <a:r>
              <a:rPr lang="fr-FR" sz="4300" baseline="30000" dirty="0">
                <a:solidFill>
                  <a:srgbClr val="000000"/>
                </a:solidFill>
                <a:latin typeface="Apple Chancery"/>
                <a:cs typeface="Apple Chancery"/>
              </a:rPr>
              <a:t> sage. »</a:t>
            </a:r>
          </a:p>
          <a:p>
            <a:endParaRPr lang="fr-FR" dirty="0">
              <a:latin typeface="Apple Chancery"/>
              <a:cs typeface="Apple Chancery"/>
            </a:endParaRPr>
          </a:p>
          <a:p>
            <a:endParaRPr lang="fr-FR" dirty="0"/>
          </a:p>
        </p:txBody>
      </p:sp>
      <p:pic>
        <p:nvPicPr>
          <p:cNvPr id="5" name="Image 4"/>
          <p:cNvPicPr>
            <a:picLocks noChangeAspect="1"/>
          </p:cNvPicPr>
          <p:nvPr/>
        </p:nvPicPr>
        <p:blipFill>
          <a:blip/>
          <a:stretch>
            <a:fillRect/>
          </a:stretch>
        </p:blipFill>
        <p:spPr>
          <a:xfrm>
            <a:off x="6843668" y="1505054"/>
            <a:ext cx="1759415" cy="2414265"/>
          </a:xfrm>
          <a:prstGeom prst="rect">
            <a:avLst/>
          </a:prstGeom>
        </p:spPr>
      </p:pic>
      <p:sp>
        <p:nvSpPr>
          <p:cNvPr id="6" name="Titre 1"/>
          <p:cNvSpPr txBox="1">
            <a:spLocks/>
          </p:cNvSpPr>
          <p:nvPr/>
        </p:nvSpPr>
        <p:spPr>
          <a:xfrm>
            <a:off x="685800" y="226772"/>
            <a:ext cx="7772400" cy="14700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a:latin typeface="Apple Chancery"/>
                <a:cs typeface="Apple Chancery"/>
              </a:rPr>
              <a:t>Le Roi</a:t>
            </a:r>
          </a:p>
          <a:p>
            <a:pPr algn="r"/>
            <a:r>
              <a:rPr lang="fr-FR" sz="1000" dirty="0">
                <a:latin typeface="Apple Chancery"/>
                <a:cs typeface="Apple Chancery"/>
              </a:rPr>
              <a:t>Première planète visitée</a:t>
            </a:r>
          </a:p>
        </p:txBody>
      </p:sp>
      <p:sp>
        <p:nvSpPr>
          <p:cNvPr id="9" name="Titre 1"/>
          <p:cNvSpPr txBox="1">
            <a:spLocks/>
          </p:cNvSpPr>
          <p:nvPr/>
        </p:nvSpPr>
        <p:spPr>
          <a:xfrm>
            <a:off x="517062" y="3024456"/>
            <a:ext cx="7772400" cy="14700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a:latin typeface="Apple Chancery"/>
                <a:cs typeface="Apple Chancery"/>
              </a:rPr>
              <a:t>L’allumeur de Réverbère</a:t>
            </a:r>
          </a:p>
          <a:p>
            <a:pPr algn="l"/>
            <a:r>
              <a:rPr lang="fr-FR" sz="1000" dirty="0">
                <a:latin typeface="Apple Chancery"/>
                <a:cs typeface="Apple Chancery"/>
              </a:rPr>
              <a:t>Cinquième planète visitée</a:t>
            </a:r>
          </a:p>
        </p:txBody>
      </p:sp>
      <p:pic>
        <p:nvPicPr>
          <p:cNvPr id="11" name="Image 10"/>
          <p:cNvPicPr>
            <a:picLocks noChangeAspect="1"/>
          </p:cNvPicPr>
          <p:nvPr/>
        </p:nvPicPr>
        <p:blipFill>
          <a:blip/>
          <a:stretch>
            <a:fillRect/>
          </a:stretch>
        </p:blipFill>
        <p:spPr>
          <a:xfrm>
            <a:off x="587103" y="4464824"/>
            <a:ext cx="1677527" cy="1847942"/>
          </a:xfrm>
          <a:prstGeom prst="rect">
            <a:avLst/>
          </a:prstGeom>
        </p:spPr>
      </p:pic>
      <p:sp>
        <p:nvSpPr>
          <p:cNvPr id="12" name="Sous-titre 2"/>
          <p:cNvSpPr txBox="1">
            <a:spLocks/>
          </p:cNvSpPr>
          <p:nvPr/>
        </p:nvSpPr>
        <p:spPr>
          <a:xfrm>
            <a:off x="2442248" y="4315944"/>
            <a:ext cx="6306540" cy="2229017"/>
          </a:xfrm>
          <a:prstGeom prst="rect">
            <a:avLst/>
          </a:prstGeom>
        </p:spPr>
        <p:txBody>
          <a:bodyPr vert="horz" lIns="91440" tIns="45720" rIns="91440" bIns="45720" rtlCol="0">
            <a:normAutofit fontScale="8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endParaRPr lang="fr-FR" baseline="30000" dirty="0">
              <a:solidFill>
                <a:schemeClr val="tx1"/>
              </a:solidFill>
              <a:latin typeface="Apple Chancery"/>
              <a:cs typeface="Apple Chancery"/>
            </a:endParaRPr>
          </a:p>
          <a:p>
            <a:pPr>
              <a:lnSpc>
                <a:spcPct val="90000"/>
              </a:lnSpc>
            </a:pPr>
            <a:r>
              <a:rPr lang="fr-FR" baseline="30000" dirty="0">
                <a:solidFill>
                  <a:schemeClr val="tx1"/>
                </a:solidFill>
                <a:latin typeface="Apple Chancery"/>
                <a:cs typeface="Apple Chancery"/>
              </a:rPr>
              <a:t>« – Je fais là un métier terrible. C’était raisonnable autrefois. J’éteignais le matin et j’allumais le soir. J’avais le reste du jour pour me reposer, et le reste de la nuit pour dormir...</a:t>
            </a:r>
          </a:p>
          <a:p>
            <a:pPr>
              <a:lnSpc>
                <a:spcPct val="90000"/>
              </a:lnSpc>
            </a:pPr>
            <a:r>
              <a:rPr lang="fr-FR" baseline="30000" dirty="0">
                <a:solidFill>
                  <a:schemeClr val="tx1"/>
                </a:solidFill>
                <a:latin typeface="Apple Chancery"/>
                <a:cs typeface="Apple Chancery"/>
              </a:rPr>
              <a:t>Et, depuis cette époque, la consigne a changé ?</a:t>
            </a:r>
          </a:p>
          <a:p>
            <a:pPr>
              <a:lnSpc>
                <a:spcPct val="90000"/>
              </a:lnSpc>
            </a:pPr>
            <a:r>
              <a:rPr lang="fr-FR" baseline="30000" dirty="0">
                <a:solidFill>
                  <a:schemeClr val="tx1"/>
                </a:solidFill>
                <a:latin typeface="Apple Chancery"/>
                <a:cs typeface="Apple Chancery"/>
              </a:rPr>
              <a:t>– La consigne n’a pas changé, dit l’allumeur. C’est bien là le drame ! La planète d’année en année a tourné de plus en</a:t>
            </a:r>
            <a:r>
              <a:rPr lang="fr-FR" dirty="0">
                <a:solidFill>
                  <a:schemeClr val="tx1"/>
                </a:solidFill>
                <a:latin typeface="Apple Chancery"/>
                <a:cs typeface="Apple Chancery"/>
              </a:rPr>
              <a:t> </a:t>
            </a:r>
            <a:r>
              <a:rPr lang="fr-FR" baseline="30000" dirty="0">
                <a:solidFill>
                  <a:schemeClr val="tx1"/>
                </a:solidFill>
                <a:latin typeface="Apple Chancery"/>
                <a:cs typeface="Apple Chancery"/>
              </a:rPr>
              <a:t>plus</a:t>
            </a:r>
            <a:r>
              <a:rPr lang="fr-FR" dirty="0">
                <a:solidFill>
                  <a:schemeClr val="tx1"/>
                </a:solidFill>
                <a:latin typeface="Apple Chancery"/>
                <a:cs typeface="Apple Chancery"/>
              </a:rPr>
              <a:t> </a:t>
            </a:r>
            <a:r>
              <a:rPr lang="fr-FR" baseline="30000" dirty="0">
                <a:solidFill>
                  <a:schemeClr val="tx1"/>
                </a:solidFill>
                <a:latin typeface="Apple Chancery"/>
                <a:cs typeface="Apple Chancery"/>
              </a:rPr>
              <a:t>vite, et la consigne n’a pas changé ! » </a:t>
            </a:r>
            <a:endParaRPr lang="fr-FR" dirty="0">
              <a:solidFill>
                <a:schemeClr val="tx1"/>
              </a:solidFill>
              <a:latin typeface="Apple Chancery"/>
              <a:cs typeface="Apple Chancery"/>
            </a:endParaRPr>
          </a:p>
          <a:p>
            <a:endParaRPr lang="fr-FR" dirty="0">
              <a:latin typeface="Apple Chancery"/>
              <a:cs typeface="Apple Chancery"/>
            </a:endParaRPr>
          </a:p>
        </p:txBody>
      </p:sp>
    </p:spTree>
    <p:extLst>
      <p:ext uri="{BB962C8B-B14F-4D97-AF65-F5344CB8AC3E}">
        <p14:creationId xmlns:p14="http://schemas.microsoft.com/office/powerpoint/2010/main" val="2138014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a:alphaModFix amt="63000"/>
          </a:blip>
          <a:stretch>
            <a:fillRect/>
          </a:stretch>
        </p:blipFill>
        <p:spPr>
          <a:xfrm>
            <a:off x="4409580" y="1601547"/>
            <a:ext cx="4558037" cy="3718705"/>
          </a:xfrm>
          <a:prstGeom prst="rect">
            <a:avLst/>
          </a:prstGeom>
        </p:spPr>
      </p:pic>
      <p:sp>
        <p:nvSpPr>
          <p:cNvPr id="2" name="Titre 1"/>
          <p:cNvSpPr>
            <a:spLocks noGrp="1"/>
          </p:cNvSpPr>
          <p:nvPr>
            <p:ph type="ctrTitle"/>
          </p:nvPr>
        </p:nvSpPr>
        <p:spPr>
          <a:xfrm>
            <a:off x="685800" y="131522"/>
            <a:ext cx="7772400" cy="1470025"/>
          </a:xfrm>
        </p:spPr>
        <p:txBody>
          <a:bodyPr/>
          <a:lstStyle/>
          <a:p>
            <a:r>
              <a:rPr lang="fr-FR" dirty="0"/>
              <a:t>L’Amitié</a:t>
            </a:r>
          </a:p>
        </p:txBody>
      </p:sp>
      <p:sp>
        <p:nvSpPr>
          <p:cNvPr id="3" name="Sous-titre 2"/>
          <p:cNvSpPr>
            <a:spLocks noGrp="1"/>
          </p:cNvSpPr>
          <p:nvPr>
            <p:ph type="subTitle" idx="1"/>
          </p:nvPr>
        </p:nvSpPr>
        <p:spPr>
          <a:xfrm>
            <a:off x="423318" y="1766163"/>
            <a:ext cx="3986262" cy="4112963"/>
          </a:xfrm>
        </p:spPr>
        <p:txBody>
          <a:bodyPr>
            <a:normAutofit fontScale="70000" lnSpcReduction="20000"/>
          </a:bodyPr>
          <a:lstStyle/>
          <a:p>
            <a:r>
              <a:rPr lang="fr-FR" dirty="0">
                <a:latin typeface="Apple Chancery"/>
                <a:cs typeface="Apple Chancery"/>
              </a:rPr>
              <a:t>«</a:t>
            </a:r>
            <a:r>
              <a:rPr lang="fr-FR" dirty="0">
                <a:solidFill>
                  <a:schemeClr val="tx1"/>
                </a:solidFill>
                <a:latin typeface="Apple Chancery"/>
                <a:cs typeface="Apple Chancery"/>
              </a:rPr>
              <a:t> – On ne </a:t>
            </a:r>
            <a:r>
              <a:rPr lang="fr-FR" dirty="0" err="1">
                <a:solidFill>
                  <a:schemeClr val="tx1"/>
                </a:solidFill>
                <a:latin typeface="Apple Chancery"/>
                <a:cs typeface="Apple Chancery"/>
              </a:rPr>
              <a:t>connaît</a:t>
            </a:r>
            <a:r>
              <a:rPr lang="fr-FR" dirty="0">
                <a:solidFill>
                  <a:schemeClr val="tx1"/>
                </a:solidFill>
                <a:latin typeface="Apple Chancery"/>
                <a:cs typeface="Apple Chancery"/>
              </a:rPr>
              <a:t> que les choses que l’on apprivoise, dit le renard. Les hommes n’ont plus le temps de rien </a:t>
            </a:r>
            <a:r>
              <a:rPr lang="fr-FR" dirty="0" err="1">
                <a:solidFill>
                  <a:schemeClr val="tx1"/>
                </a:solidFill>
                <a:latin typeface="Apple Chancery"/>
                <a:cs typeface="Apple Chancery"/>
              </a:rPr>
              <a:t>connaître</a:t>
            </a:r>
            <a:r>
              <a:rPr lang="fr-FR" dirty="0">
                <a:solidFill>
                  <a:schemeClr val="tx1"/>
                </a:solidFill>
                <a:latin typeface="Apple Chancery"/>
                <a:cs typeface="Apple Chancery"/>
              </a:rPr>
              <a:t>. Ils </a:t>
            </a:r>
            <a:r>
              <a:rPr lang="fr-FR" dirty="0" err="1">
                <a:solidFill>
                  <a:schemeClr val="tx1"/>
                </a:solidFill>
                <a:latin typeface="Apple Chancery"/>
                <a:cs typeface="Apple Chancery"/>
              </a:rPr>
              <a:t>achètent</a:t>
            </a:r>
            <a:r>
              <a:rPr lang="fr-FR" dirty="0">
                <a:solidFill>
                  <a:schemeClr val="tx1"/>
                </a:solidFill>
                <a:latin typeface="Apple Chancery"/>
                <a:cs typeface="Apple Chancery"/>
              </a:rPr>
              <a:t> des choses toutes faites chez les marchands. </a:t>
            </a:r>
          </a:p>
          <a:p>
            <a:endParaRPr lang="fr-FR" dirty="0">
              <a:solidFill>
                <a:schemeClr val="tx1"/>
              </a:solidFill>
              <a:latin typeface="Apple Chancery"/>
              <a:cs typeface="Apple Chancery"/>
            </a:endParaRPr>
          </a:p>
          <a:p>
            <a:r>
              <a:rPr lang="fr-FR" dirty="0">
                <a:solidFill>
                  <a:schemeClr val="tx1"/>
                </a:solidFill>
                <a:latin typeface="Apple Chancery"/>
                <a:cs typeface="Apple Chancery"/>
              </a:rPr>
              <a:t>Mais comme il n’existe point de marchands d’amis, les hommes n’ont plus d’amis. Si tu veux un ami, apprivoise-moi ! </a:t>
            </a:r>
            <a:r>
              <a:rPr lang="fr-FR" dirty="0">
                <a:solidFill>
                  <a:schemeClr val="tx1"/>
                </a:solidFill>
              </a:rPr>
              <a:t>»</a:t>
            </a:r>
          </a:p>
        </p:txBody>
      </p:sp>
    </p:spTree>
    <p:extLst>
      <p:ext uri="{BB962C8B-B14F-4D97-AF65-F5344CB8AC3E}">
        <p14:creationId xmlns:p14="http://schemas.microsoft.com/office/powerpoint/2010/main" val="1087111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a:stretch>
            <a:fillRect/>
          </a:stretch>
        </p:blipFill>
        <p:spPr>
          <a:xfrm>
            <a:off x="5304538" y="2169418"/>
            <a:ext cx="3392200" cy="4688582"/>
          </a:xfrm>
          <a:prstGeom prst="rect">
            <a:avLst/>
          </a:prstGeom>
        </p:spPr>
      </p:pic>
      <p:sp>
        <p:nvSpPr>
          <p:cNvPr id="2" name="Titre 1"/>
          <p:cNvSpPr>
            <a:spLocks noGrp="1"/>
          </p:cNvSpPr>
          <p:nvPr>
            <p:ph type="ctrTitle"/>
          </p:nvPr>
        </p:nvSpPr>
        <p:spPr>
          <a:xfrm>
            <a:off x="685800" y="284379"/>
            <a:ext cx="7772400" cy="1470025"/>
          </a:xfrm>
        </p:spPr>
        <p:txBody>
          <a:bodyPr/>
          <a:lstStyle/>
          <a:p>
            <a:r>
              <a:rPr lang="fr-FR" dirty="0"/>
              <a:t>L’Amour</a:t>
            </a:r>
          </a:p>
        </p:txBody>
      </p:sp>
      <p:sp>
        <p:nvSpPr>
          <p:cNvPr id="3" name="Sous-titre 2"/>
          <p:cNvSpPr>
            <a:spLocks noGrp="1"/>
          </p:cNvSpPr>
          <p:nvPr>
            <p:ph type="subTitle" idx="1"/>
          </p:nvPr>
        </p:nvSpPr>
        <p:spPr>
          <a:xfrm>
            <a:off x="1145637" y="1394245"/>
            <a:ext cx="3792145" cy="4244555"/>
          </a:xfrm>
        </p:spPr>
        <p:txBody>
          <a:bodyPr>
            <a:normAutofit fontScale="77500" lnSpcReduction="20000"/>
          </a:bodyPr>
          <a:lstStyle/>
          <a:p>
            <a:r>
              <a:rPr lang="fr-FR" dirty="0">
                <a:solidFill>
                  <a:srgbClr val="000000"/>
                </a:solidFill>
                <a:latin typeface="Apple Chancery"/>
                <a:cs typeface="Apple Chancery"/>
              </a:rPr>
              <a:t>« Je n’ai alors rien su comprendre ! J’aurais dû la juger sur les actes et non sur les mots. Elle m’embaumait et m’</a:t>
            </a:r>
            <a:r>
              <a:rPr lang="fr-FR" dirty="0" err="1">
                <a:solidFill>
                  <a:srgbClr val="000000"/>
                </a:solidFill>
                <a:latin typeface="Apple Chancery"/>
                <a:cs typeface="Apple Chancery"/>
              </a:rPr>
              <a:t>éclairait</a:t>
            </a:r>
            <a:r>
              <a:rPr lang="fr-FR" dirty="0">
                <a:solidFill>
                  <a:srgbClr val="000000"/>
                </a:solidFill>
                <a:latin typeface="Apple Chancery"/>
                <a:cs typeface="Apple Chancery"/>
              </a:rPr>
              <a:t>. Je n’aurais jamais dû m’enfuir ! J’aurais dû deviner sa tendresse </a:t>
            </a:r>
            <a:r>
              <a:rPr lang="fr-FR" dirty="0" err="1">
                <a:solidFill>
                  <a:srgbClr val="000000"/>
                </a:solidFill>
                <a:latin typeface="Apple Chancery"/>
                <a:cs typeface="Apple Chancery"/>
              </a:rPr>
              <a:t>derrière</a:t>
            </a:r>
            <a:r>
              <a:rPr lang="fr-FR" dirty="0">
                <a:solidFill>
                  <a:srgbClr val="000000"/>
                </a:solidFill>
                <a:latin typeface="Apple Chancery"/>
                <a:cs typeface="Apple Chancery"/>
              </a:rPr>
              <a:t> ses pauvres ruses. Les fleurs sont si contradictoires ! Mais j’</a:t>
            </a:r>
            <a:r>
              <a:rPr lang="fr-FR" dirty="0" err="1">
                <a:solidFill>
                  <a:srgbClr val="000000"/>
                </a:solidFill>
                <a:latin typeface="Apple Chancery"/>
                <a:cs typeface="Apple Chancery"/>
              </a:rPr>
              <a:t>étais</a:t>
            </a:r>
            <a:r>
              <a:rPr lang="fr-FR" dirty="0">
                <a:solidFill>
                  <a:srgbClr val="000000"/>
                </a:solidFill>
                <a:latin typeface="Apple Chancery"/>
                <a:cs typeface="Apple Chancery"/>
              </a:rPr>
              <a:t> trop jeune pour savoir l’aimer. » </a:t>
            </a:r>
          </a:p>
          <a:p>
            <a:endParaRPr lang="fr-FR" dirty="0"/>
          </a:p>
        </p:txBody>
      </p:sp>
    </p:spTree>
    <p:extLst>
      <p:ext uri="{BB962C8B-B14F-4D97-AF65-F5344CB8AC3E}">
        <p14:creationId xmlns:p14="http://schemas.microsoft.com/office/powerpoint/2010/main" val="888586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a:alphaModFix amt="60000"/>
          </a:blip>
          <a:stretch>
            <a:fillRect/>
          </a:stretch>
        </p:blipFill>
        <p:spPr>
          <a:xfrm>
            <a:off x="685800" y="1016300"/>
            <a:ext cx="4675471" cy="4187700"/>
          </a:xfrm>
          <a:prstGeom prst="rect">
            <a:avLst/>
          </a:prstGeom>
        </p:spPr>
      </p:pic>
      <p:sp>
        <p:nvSpPr>
          <p:cNvPr id="4" name="Titre 3"/>
          <p:cNvSpPr>
            <a:spLocks noGrp="1"/>
          </p:cNvSpPr>
          <p:nvPr>
            <p:ph type="ctrTitle"/>
          </p:nvPr>
        </p:nvSpPr>
        <p:spPr>
          <a:xfrm>
            <a:off x="531244" y="1189086"/>
            <a:ext cx="7772400" cy="1470025"/>
          </a:xfrm>
        </p:spPr>
        <p:txBody>
          <a:bodyPr/>
          <a:lstStyle/>
          <a:p>
            <a:r>
              <a:rPr lang="fr-FR" dirty="0">
                <a:latin typeface="Apple Chancery"/>
                <a:cs typeface="Apple Chancery"/>
              </a:rPr>
              <a:t>The End</a:t>
            </a:r>
          </a:p>
        </p:txBody>
      </p:sp>
      <p:sp>
        <p:nvSpPr>
          <p:cNvPr id="5" name="Sous-titre 4"/>
          <p:cNvSpPr>
            <a:spLocks noGrp="1"/>
          </p:cNvSpPr>
          <p:nvPr>
            <p:ph type="subTitle" idx="1"/>
          </p:nvPr>
        </p:nvSpPr>
        <p:spPr>
          <a:xfrm>
            <a:off x="801252" y="4902060"/>
            <a:ext cx="7440226" cy="1637504"/>
          </a:xfrm>
        </p:spPr>
        <p:txBody>
          <a:bodyPr>
            <a:normAutofit fontScale="62500" lnSpcReduction="20000"/>
          </a:bodyPr>
          <a:lstStyle/>
          <a:p>
            <a:r>
              <a:rPr lang="fr-FR" dirty="0">
                <a:solidFill>
                  <a:srgbClr val="000000"/>
                </a:solidFill>
                <a:latin typeface="Apple Chancery"/>
                <a:cs typeface="Apple Chancery"/>
              </a:rPr>
              <a:t>« Les gens ont des </a:t>
            </a:r>
            <a:r>
              <a:rPr lang="fr-FR" dirty="0" err="1">
                <a:solidFill>
                  <a:srgbClr val="000000"/>
                </a:solidFill>
                <a:latin typeface="Apple Chancery"/>
                <a:cs typeface="Apple Chancery"/>
              </a:rPr>
              <a:t>étoiles</a:t>
            </a:r>
            <a:r>
              <a:rPr lang="fr-FR" dirty="0">
                <a:solidFill>
                  <a:srgbClr val="000000"/>
                </a:solidFill>
                <a:latin typeface="Apple Chancery"/>
                <a:cs typeface="Apple Chancery"/>
              </a:rPr>
              <a:t> qui ne sont pas les </a:t>
            </a:r>
            <a:r>
              <a:rPr lang="fr-FR" dirty="0" err="1">
                <a:solidFill>
                  <a:srgbClr val="000000"/>
                </a:solidFill>
                <a:latin typeface="Apple Chancery"/>
                <a:cs typeface="Apple Chancery"/>
              </a:rPr>
              <a:t>mêmes</a:t>
            </a:r>
            <a:r>
              <a:rPr lang="fr-FR" dirty="0">
                <a:solidFill>
                  <a:srgbClr val="000000"/>
                </a:solidFill>
                <a:latin typeface="Apple Chancery"/>
                <a:cs typeface="Apple Chancery"/>
              </a:rPr>
              <a:t>. Pour les uns, qui voyagent, les </a:t>
            </a:r>
            <a:r>
              <a:rPr lang="fr-FR" dirty="0" err="1">
                <a:solidFill>
                  <a:srgbClr val="000000"/>
                </a:solidFill>
                <a:latin typeface="Apple Chancery"/>
                <a:cs typeface="Apple Chancery"/>
              </a:rPr>
              <a:t>étoiles</a:t>
            </a:r>
            <a:r>
              <a:rPr lang="fr-FR" dirty="0">
                <a:solidFill>
                  <a:srgbClr val="000000"/>
                </a:solidFill>
                <a:latin typeface="Apple Chancery"/>
                <a:cs typeface="Apple Chancery"/>
              </a:rPr>
              <a:t> sont des guides. Pour d’autres elles ne sont rien que de petites </a:t>
            </a:r>
            <a:r>
              <a:rPr lang="fr-FR" dirty="0" err="1">
                <a:solidFill>
                  <a:srgbClr val="000000"/>
                </a:solidFill>
                <a:latin typeface="Apple Chancery"/>
                <a:cs typeface="Apple Chancery"/>
              </a:rPr>
              <a:t>lumières</a:t>
            </a:r>
            <a:r>
              <a:rPr lang="fr-FR" dirty="0">
                <a:solidFill>
                  <a:srgbClr val="000000"/>
                </a:solidFill>
                <a:latin typeface="Apple Chancery"/>
                <a:cs typeface="Apple Chancery"/>
              </a:rPr>
              <a:t>. Pour d’autres, qui sont savants, elles sont des </a:t>
            </a:r>
            <a:r>
              <a:rPr lang="fr-FR" dirty="0" err="1">
                <a:solidFill>
                  <a:srgbClr val="000000"/>
                </a:solidFill>
                <a:latin typeface="Apple Chancery"/>
                <a:cs typeface="Apple Chancery"/>
              </a:rPr>
              <a:t>problèmes</a:t>
            </a:r>
            <a:r>
              <a:rPr lang="fr-FR" dirty="0">
                <a:solidFill>
                  <a:srgbClr val="000000"/>
                </a:solidFill>
                <a:latin typeface="Apple Chancery"/>
                <a:cs typeface="Apple Chancery"/>
              </a:rPr>
              <a:t>. Pour mon businessman elles </a:t>
            </a:r>
            <a:r>
              <a:rPr lang="fr-FR" dirty="0" err="1">
                <a:solidFill>
                  <a:srgbClr val="000000"/>
                </a:solidFill>
                <a:latin typeface="Apple Chancery"/>
                <a:cs typeface="Apple Chancery"/>
              </a:rPr>
              <a:t>étaient</a:t>
            </a:r>
            <a:r>
              <a:rPr lang="fr-FR" dirty="0">
                <a:solidFill>
                  <a:srgbClr val="000000"/>
                </a:solidFill>
                <a:latin typeface="Apple Chancery"/>
                <a:cs typeface="Apple Chancery"/>
              </a:rPr>
              <a:t> de l’or. Mais toutes ces </a:t>
            </a:r>
            <a:r>
              <a:rPr lang="fr-FR" dirty="0" err="1">
                <a:solidFill>
                  <a:srgbClr val="000000"/>
                </a:solidFill>
                <a:latin typeface="Apple Chancery"/>
                <a:cs typeface="Apple Chancery"/>
              </a:rPr>
              <a:t>étoiles-là</a:t>
            </a:r>
            <a:r>
              <a:rPr lang="fr-FR" dirty="0">
                <a:solidFill>
                  <a:srgbClr val="000000"/>
                </a:solidFill>
                <a:latin typeface="Apple Chancery"/>
                <a:cs typeface="Apple Chancery"/>
              </a:rPr>
              <a:t> se taisent. Toi, tu auras des </a:t>
            </a:r>
            <a:r>
              <a:rPr lang="fr-FR" dirty="0" err="1">
                <a:solidFill>
                  <a:srgbClr val="000000"/>
                </a:solidFill>
                <a:latin typeface="Apple Chancery"/>
                <a:cs typeface="Apple Chancery"/>
              </a:rPr>
              <a:t>étoiles</a:t>
            </a:r>
            <a:r>
              <a:rPr lang="fr-FR" dirty="0">
                <a:solidFill>
                  <a:srgbClr val="000000"/>
                </a:solidFill>
                <a:latin typeface="Apple Chancery"/>
                <a:cs typeface="Apple Chancery"/>
              </a:rPr>
              <a:t> comme personne n’en a... »</a:t>
            </a:r>
          </a:p>
        </p:txBody>
      </p:sp>
    </p:spTree>
    <p:extLst>
      <p:ext uri="{BB962C8B-B14F-4D97-AF65-F5344CB8AC3E}">
        <p14:creationId xmlns:p14="http://schemas.microsoft.com/office/powerpoint/2010/main" val="313199590"/>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825</TotalTime>
  <Words>405</Words>
  <Application>Microsoft Macintosh PowerPoint</Application>
  <PresentationFormat>Affichage à l'écran (4:3)</PresentationFormat>
  <Paragraphs>34</Paragraphs>
  <Slides>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Apple Chancery</vt:lpstr>
      <vt:lpstr>Arial</vt:lpstr>
      <vt:lpstr>Calibri</vt:lpstr>
      <vt:lpstr>Thème Office</vt:lpstr>
      <vt:lpstr>Le Petit Prince</vt:lpstr>
      <vt:lpstr>En quelques mots</vt:lpstr>
      <vt:lpstr>Les Valeurs</vt:lpstr>
      <vt:lpstr>Présentation PowerPoint</vt:lpstr>
      <vt:lpstr>L’Amitié</vt:lpstr>
      <vt:lpstr>L’Amour</vt:lpstr>
      <vt:lpstr>The End</vt:lpstr>
    </vt:vector>
  </TitlesOfParts>
  <Company>Le Petit Prince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Petit Prince</dc:title>
  <dc:creator>Eric LARMET</dc:creator>
  <cp:lastModifiedBy>LARMET Eric</cp:lastModifiedBy>
  <cp:revision>18</cp:revision>
  <dcterms:created xsi:type="dcterms:W3CDTF">2015-05-02T14:25:40Z</dcterms:created>
  <dcterms:modified xsi:type="dcterms:W3CDTF">2026-01-25T19:20:27Z</dcterms:modified>
</cp:coreProperties>
</file>